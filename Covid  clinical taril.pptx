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98DBD7-2B0B-4D77-90FA-4DDE788DB569}" v="1" dt="2026-02-08T10:13:50.9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50" autoAdjust="0"/>
    <p:restoredTop sz="94660"/>
  </p:normalViewPr>
  <p:slideViewPr>
    <p:cSldViewPr snapToGrid="0">
      <p:cViewPr varScale="1">
        <p:scale>
          <a:sx n="78" d="100"/>
          <a:sy n="78" d="100"/>
        </p:scale>
        <p:origin x="92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yatri Kulkarni" userId="8bc8f7e35bece5ad" providerId="LiveId" clId="{6F5AA96B-57FA-48B6-8AB8-E8FA0E652726}"/>
    <pc:docChg chg="custSel modSld">
      <pc:chgData name="Gayatri Kulkarni" userId="8bc8f7e35bece5ad" providerId="LiveId" clId="{6F5AA96B-57FA-48B6-8AB8-E8FA0E652726}" dt="2026-02-08T10:13:50.977" v="53"/>
      <pc:docMkLst>
        <pc:docMk/>
      </pc:docMkLst>
      <pc:sldChg chg="modSp mod">
        <pc:chgData name="Gayatri Kulkarni" userId="8bc8f7e35bece5ad" providerId="LiveId" clId="{6F5AA96B-57FA-48B6-8AB8-E8FA0E652726}" dt="2026-02-08T10:13:50.977" v="53"/>
        <pc:sldMkLst>
          <pc:docMk/>
          <pc:sldMk cId="169380435" sldId="264"/>
        </pc:sldMkLst>
        <pc:spChg chg="mod">
          <ac:chgData name="Gayatri Kulkarni" userId="8bc8f7e35bece5ad" providerId="LiveId" clId="{6F5AA96B-57FA-48B6-8AB8-E8FA0E652726}" dt="2026-02-08T10:13:50.977" v="53"/>
          <ac:spMkLst>
            <pc:docMk/>
            <pc:sldMk cId="169380435" sldId="264"/>
            <ac:spMk id="3" creationId="{BD597C6F-D872-A5AC-07EF-68F0FBA0F96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64407-88C5-B1BB-0398-7E6E0A10F5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1C5FF1-23AA-04CE-92B5-45E6D8F058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6828E-963D-6082-9EB0-0C68B89AD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AD25B-50A0-439E-88BE-7DB3A8FF7F14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7CCB9-CC50-06C7-260D-85AF64A5D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BC51C-CADF-B72C-7342-78B6DAEDC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98A18-D209-447E-9E0B-90D94FC68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7716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71C60-874B-A63E-8EBA-DF4EA0816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A0E91-4C91-9CAF-8AAE-6CBB65DB04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63360-2C78-3C71-C0DF-2F8F786D0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AD25B-50A0-439E-88BE-7DB3A8FF7F14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B0399A-3148-1688-1B96-BCAABB2C6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3B6AD-ACFB-3EE9-0DE6-9E5C762CA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98A18-D209-447E-9E0B-90D94FC68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8621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1A51D-60D5-3A7A-75F0-69F3D5E98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DD930-9795-21B9-3CC6-3081307636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FEF2B-EA91-CB00-35A0-9EE104DAD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AD25B-50A0-439E-88BE-7DB3A8FF7F14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2F5800-CC51-8357-6ADA-24ABBF245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1EC84-3CF0-D45C-FB57-2E5928A10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98A18-D209-447E-9E0B-90D94FC68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2162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E1DB8-0419-1B43-5DCB-606EDC543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07E64-1B7C-F644-13D2-0531ADC4DD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9BA416-6569-814C-EBA4-88E0157A0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5888B-2CE1-E145-82FE-9E6DA33C3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AD25B-50A0-439E-88BE-7DB3A8FF7F14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AFEBE0-548D-631F-09DD-089816984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5E2000-08C6-F41E-E9BD-C2D44716D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98A18-D209-447E-9E0B-90D94FC68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696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CC30F-9035-DFE4-DCC1-ABD2AC35F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9B3119-8F49-B966-AA31-4C82F07CB3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1D6DCE-3BB1-762B-E7DD-70A08EF1EB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E0DE27-3B41-23C5-DB49-28B1EC6519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3AAEC0-1ED2-C7E8-D90F-D933AE85DA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43B8F9-9B20-E6A5-AAD2-08DCBFD87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AD25B-50A0-439E-88BE-7DB3A8FF7F14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BFD918-82B5-BE6F-71AD-0395FA4E0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5AA291-1C10-D6E7-DAAA-06A2BFC9F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98A18-D209-447E-9E0B-90D94FC68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4467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24E1B-22AB-A60D-4B5E-8E74992D0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403AFB-FF27-82DF-BC1C-FC3C3A478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AD25B-50A0-439E-88BE-7DB3A8FF7F14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CFAC9D-322E-03E1-56D3-C8B066BE2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66EED5-F35C-A153-DBA3-4BB07ACB8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98A18-D209-447E-9E0B-90D94FC68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3228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805BBF-0BD7-961B-B3DF-FFE102734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AD25B-50A0-439E-88BE-7DB3A8FF7F14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E7AA2D-4DFD-4594-7BFC-7F5499E14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A43E01-5749-D957-E2CA-8EBB402AD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98A18-D209-447E-9E0B-90D94FC68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3879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363AB-75B6-B3C9-07DA-F260D5EB7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5F84E-019E-DBC5-2DBF-EC0143718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E73533-4970-1CED-9BF8-1028CB6F8E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D12519-DE8C-6713-7745-DF23DC695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AD25B-50A0-439E-88BE-7DB3A8FF7F14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F4FFCD-534F-E045-E188-5BF65602C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54735A-D1D6-7F92-48A2-1A046D5DF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98A18-D209-447E-9E0B-90D94FC68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148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82FAD-3620-BDB0-B5CC-893771C78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6AF0BF-B3CD-94C9-3114-E523685EB6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A9D31-21A7-9D3C-7DFE-F3BD4E2926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5AB00E-2A70-00E2-1BF4-6A69B4CA8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AD25B-50A0-439E-88BE-7DB3A8FF7F14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0D93DF-F460-F80F-F950-00D686034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3DDD9C-BB92-EC1F-FDA5-FD02F9CBB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98A18-D209-447E-9E0B-90D94FC68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950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4E087-EB76-F0EC-116C-099192FB0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958833-31E3-2FA6-C3D2-787A0E83DA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14204-0F8F-40BC-2AD4-DB8797367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AD25B-50A0-439E-88BE-7DB3A8FF7F14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18D07-A552-A6E0-B51A-ACF3177B6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20ADC-5E70-182C-E58F-12A44FA21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98A18-D209-447E-9E0B-90D94FC68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280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9D02B8-30B3-D79C-0581-9AD835BB6E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CA7506-12BA-119E-7638-4C61601E1C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809C4F-F6C8-9011-1D7D-5CFDD2D34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AD25B-50A0-439E-88BE-7DB3A8FF7F14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C3775-4B69-3865-4880-B2B10DF8E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5C3DB-6CF1-8392-5F5A-2063CF662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98A18-D209-447E-9E0B-90D94FC68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2615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DD0D81-FBEB-4465-97B1-312D61B6A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69645E-3FB4-8BB2-F713-22CDD1BE58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3E937-2E4D-DB8E-CA64-08CC25CA42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2AD25B-50A0-439E-88BE-7DB3A8FF7F14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C9F41-2048-D321-8088-3C4F7F2BFA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1A5900-9E54-CB6F-CA8D-0348427514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E98A18-D209-447E-9E0B-90D94FC68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1698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HuS0dsyzhN9-ZlHTItUrZBUwoLtkj8AC#scrollTo=yRgIF7czVuaK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5FCAF-B727-120F-E06C-C846B74A1D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COVID-19 Clinical Trials Dataset: Exploratory Data Analysis (EDA)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C7DA8C-6BDA-349B-56A8-E7BB6752EB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Domain:</a:t>
            </a:r>
            <a:r>
              <a:rPr lang="en-US" dirty="0"/>
              <a:t> Healthcare Analytics / Clinical Research</a:t>
            </a:r>
            <a:br>
              <a:rPr lang="en-US" dirty="0"/>
            </a:br>
            <a:r>
              <a:rPr lang="en-US" b="1" dirty="0"/>
              <a:t>Tools Used:</a:t>
            </a:r>
            <a:r>
              <a:rPr lang="en-US" dirty="0"/>
              <a:t> Python (Pandas, Matplotlib)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6994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FE636-5A84-0448-C2F7-B5BEC5BF9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Objective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F54E6-D1EE-76DB-25D8-6451D8038B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Main Objectives</a:t>
            </a:r>
          </a:p>
          <a:p>
            <a:r>
              <a:rPr lang="en-US" dirty="0"/>
              <a:t>Analyze global clinical trials conducted for COVID-19</a:t>
            </a:r>
          </a:p>
          <a:p>
            <a:r>
              <a:rPr lang="en-US" dirty="0"/>
              <a:t>Study trial status distribution (Recruiting, Completed, etc.)</a:t>
            </a:r>
          </a:p>
          <a:p>
            <a:r>
              <a:rPr lang="en-US" dirty="0"/>
              <a:t>Explore clinical trial phases and study designs</a:t>
            </a:r>
          </a:p>
          <a:p>
            <a:r>
              <a:rPr lang="en-US" dirty="0"/>
              <a:t>Identify top countries and sponsors leading COVID research</a:t>
            </a:r>
          </a:p>
          <a:p>
            <a:r>
              <a:rPr lang="en-US" dirty="0"/>
              <a:t>Visualize key insights using Python-based EDA techniques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4734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50F82-9BD7-20D4-EE04-EEE5D9533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Dataset 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EE572-D447-E08A-9928-7DE65995B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Dataset Summary</a:t>
            </a:r>
          </a:p>
          <a:p>
            <a:r>
              <a:rPr lang="en-IN" dirty="0"/>
              <a:t>Total Trials: </a:t>
            </a:r>
            <a:r>
              <a:rPr lang="en-IN" b="1" dirty="0"/>
              <a:t>5,783 clinical studies</a:t>
            </a:r>
            <a:endParaRPr lang="en-IN" dirty="0"/>
          </a:p>
          <a:p>
            <a:r>
              <a:rPr lang="en-IN" dirty="0"/>
              <a:t>Total Variables: </a:t>
            </a:r>
            <a:r>
              <a:rPr lang="en-IN" b="1" dirty="0"/>
              <a:t>27 features</a:t>
            </a:r>
            <a:endParaRPr lang="en-IN" dirty="0"/>
          </a:p>
          <a:p>
            <a:r>
              <a:rPr lang="en-IN" dirty="0"/>
              <a:t>Dataset includes:</a:t>
            </a:r>
          </a:p>
          <a:p>
            <a:r>
              <a:rPr lang="en-IN" dirty="0"/>
              <a:t>Trial identification (NCT Number, Title)</a:t>
            </a:r>
          </a:p>
          <a:p>
            <a:r>
              <a:rPr lang="en-IN" dirty="0"/>
              <a:t>Status and results</a:t>
            </a:r>
          </a:p>
          <a:p>
            <a:r>
              <a:rPr lang="en-IN" dirty="0"/>
              <a:t>Conditions and interventions</a:t>
            </a:r>
          </a:p>
          <a:p>
            <a:r>
              <a:rPr lang="en-IN" dirty="0"/>
              <a:t>Phase, </a:t>
            </a:r>
            <a:r>
              <a:rPr lang="en-IN" dirty="0" err="1"/>
              <a:t>enrollment</a:t>
            </a:r>
            <a:r>
              <a:rPr lang="en-IN" dirty="0"/>
              <a:t>, study type</a:t>
            </a:r>
          </a:p>
          <a:p>
            <a:r>
              <a:rPr lang="en-IN" dirty="0"/>
              <a:t>Sponsors, locations, and timelines</a:t>
            </a:r>
          </a:p>
          <a:p>
            <a:r>
              <a:rPr lang="en-IN" dirty="0"/>
              <a:t>Source: </a:t>
            </a:r>
            <a:r>
              <a:rPr lang="en-IN" b="1" dirty="0"/>
              <a:t>ClinicalTrials.gov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9944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9A4B4-0EBA-E083-ADD8-D92045FB3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Trials by Status (Chart)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31E4E-BDA8-6D28-96CA-E150A9F26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Status Distribution Analysis</a:t>
            </a:r>
          </a:p>
          <a:p>
            <a:r>
              <a:rPr lang="en-US" dirty="0"/>
              <a:t>A bar chart was created to observe trial progress.</a:t>
            </a:r>
          </a:p>
          <a:p>
            <a:r>
              <a:rPr lang="en-US" b="1" dirty="0"/>
              <a:t>Key Status Categories:</a:t>
            </a:r>
            <a:endParaRPr lang="en-US" dirty="0"/>
          </a:p>
          <a:p>
            <a:r>
              <a:rPr lang="en-US" dirty="0"/>
              <a:t>Recruiting</a:t>
            </a:r>
          </a:p>
          <a:p>
            <a:r>
              <a:rPr lang="en-US" dirty="0"/>
              <a:t>Completed</a:t>
            </a:r>
          </a:p>
          <a:p>
            <a:r>
              <a:rPr lang="en-US" dirty="0"/>
              <a:t>Not yet recruiting</a:t>
            </a:r>
          </a:p>
          <a:p>
            <a:r>
              <a:rPr lang="en-US" dirty="0"/>
              <a:t>Active, not recruiting</a:t>
            </a:r>
          </a:p>
          <a:p>
            <a:r>
              <a:rPr lang="en-US" b="1" dirty="0"/>
              <a:t>Insight:</a:t>
            </a:r>
            <a:br>
              <a:rPr lang="en-US" dirty="0"/>
            </a:br>
            <a:r>
              <a:rPr lang="en-US" dirty="0"/>
              <a:t>Most trials are still in the </a:t>
            </a:r>
            <a:r>
              <a:rPr lang="en-US" b="1" dirty="0"/>
              <a:t>Recruiting stage</a:t>
            </a:r>
            <a:r>
              <a:rPr lang="en-US" dirty="0"/>
              <a:t>, showing ongoing global research efforts.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1FDA73-3719-BF40-42D7-80D667837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0" y="1566658"/>
            <a:ext cx="3953305" cy="3221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692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BCE16-CFAA-B9F9-31F1-696FEF0A1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Trials by Phase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3CEFB-4186-BAA0-4CE0-2BC9ECD90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b="1" dirty="0"/>
          </a:p>
          <a:p>
            <a:r>
              <a:rPr lang="en-US" b="1" dirty="0"/>
              <a:t>Clinical Trial Phase Analysis</a:t>
            </a:r>
          </a:p>
          <a:p>
            <a:r>
              <a:rPr lang="en-US" dirty="0"/>
              <a:t>Trials were grouped by phase:</a:t>
            </a:r>
          </a:p>
          <a:p>
            <a:r>
              <a:rPr lang="en-US" dirty="0"/>
              <a:t>Phase 1</a:t>
            </a:r>
          </a:p>
          <a:p>
            <a:r>
              <a:rPr lang="en-US" dirty="0"/>
              <a:t>Phase 2</a:t>
            </a:r>
          </a:p>
          <a:p>
            <a:r>
              <a:rPr lang="en-US" dirty="0"/>
              <a:t>Phase 3</a:t>
            </a:r>
          </a:p>
          <a:p>
            <a:r>
              <a:rPr lang="en-US" dirty="0"/>
              <a:t>Phase 4</a:t>
            </a:r>
          </a:p>
          <a:p>
            <a:r>
              <a:rPr lang="en-US" dirty="0"/>
              <a:t>Unknown</a:t>
            </a:r>
          </a:p>
          <a:p>
            <a:r>
              <a:rPr lang="en-US" b="1" dirty="0"/>
              <a:t>Insight:</a:t>
            </a:r>
            <a:br>
              <a:rPr lang="en-US" dirty="0"/>
            </a:br>
            <a:r>
              <a:rPr lang="en-US" dirty="0"/>
              <a:t>A large number of studies belong to </a:t>
            </a:r>
            <a:r>
              <a:rPr lang="en-US" b="1" dirty="0"/>
              <a:t>Phase 2 and Phase 3</a:t>
            </a:r>
            <a:r>
              <a:rPr lang="en-US" dirty="0"/>
              <a:t>, indicating advanced-stage vaccine and treatment testing.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07FAB9-93AC-22A3-4F42-B98FB9A18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9099" y="1790342"/>
            <a:ext cx="3519533" cy="33617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20E178-1292-670B-F230-AB2EA27234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8632" y="265471"/>
            <a:ext cx="2558395" cy="480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6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03E44-AA08-A520-49C4-D84DD0522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 err="1"/>
              <a:t>Enrollment</a:t>
            </a:r>
            <a:r>
              <a:rPr lang="en-IN" b="1" dirty="0"/>
              <a:t> Distribution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9AF58-1244-7108-D5CA-76AC931361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Participant </a:t>
            </a:r>
            <a:r>
              <a:rPr lang="en-IN" b="1" dirty="0" err="1"/>
              <a:t>Enrollment</a:t>
            </a:r>
            <a:r>
              <a:rPr lang="en-IN" b="1" dirty="0"/>
              <a:t> Analysis</a:t>
            </a:r>
          </a:p>
          <a:p>
            <a:r>
              <a:rPr lang="en-IN" dirty="0"/>
              <a:t>Histogram analysis was performed on trial </a:t>
            </a:r>
            <a:r>
              <a:rPr lang="en-IN" dirty="0" err="1"/>
              <a:t>enrollment</a:t>
            </a:r>
            <a:r>
              <a:rPr lang="en-IN" dirty="0"/>
              <a:t> numbers.</a:t>
            </a:r>
          </a:p>
          <a:p>
            <a:r>
              <a:rPr lang="en-IN" b="1" dirty="0"/>
              <a:t>Insight:</a:t>
            </a:r>
            <a:endParaRPr lang="en-IN" dirty="0"/>
          </a:p>
          <a:p>
            <a:r>
              <a:rPr lang="en-IN" dirty="0"/>
              <a:t>Many studies involve small-to-medium participant groups</a:t>
            </a:r>
          </a:p>
          <a:p>
            <a:r>
              <a:rPr lang="en-IN" dirty="0"/>
              <a:t>Few large-scale trials include thousands of participants</a:t>
            </a:r>
          </a:p>
          <a:p>
            <a:r>
              <a:rPr lang="en-IN" dirty="0" err="1"/>
              <a:t>Enrollment</a:t>
            </a:r>
            <a:r>
              <a:rPr lang="en-IN" dirty="0"/>
              <a:t> size reflects trial scope and study type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9CD7CC-86E8-3206-3AD4-70CCB2A27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5407" y="170580"/>
            <a:ext cx="3506531" cy="22124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3FDE2D-A193-DD21-6F31-387230C368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6787" y="2783658"/>
            <a:ext cx="2415151" cy="4074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589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F3B9A-9B3D-FC26-A77F-FF8C32D1A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Top Countries Conducting Trials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9C10C-2221-5814-BEEC-C69577298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Geographical Distribution</a:t>
            </a:r>
          </a:p>
          <a:p>
            <a:r>
              <a:rPr lang="en-US" dirty="0"/>
              <a:t>Trials were analyzed based on study locations.</a:t>
            </a:r>
          </a:p>
          <a:p>
            <a:r>
              <a:rPr lang="en-US" dirty="0"/>
              <a:t>Top contributing countries include:</a:t>
            </a:r>
          </a:p>
          <a:p>
            <a:r>
              <a:rPr lang="en-US" dirty="0"/>
              <a:t>USA</a:t>
            </a:r>
          </a:p>
          <a:p>
            <a:r>
              <a:rPr lang="en-US" dirty="0"/>
              <a:t>China</a:t>
            </a:r>
          </a:p>
          <a:p>
            <a:r>
              <a:rPr lang="en-US" dirty="0"/>
              <a:t>India</a:t>
            </a:r>
          </a:p>
          <a:p>
            <a:r>
              <a:rPr lang="en-US" dirty="0"/>
              <a:t>Italy</a:t>
            </a:r>
          </a:p>
          <a:p>
            <a:r>
              <a:rPr lang="en-US" dirty="0"/>
              <a:t>France</a:t>
            </a:r>
          </a:p>
          <a:p>
            <a:r>
              <a:rPr lang="en-US" b="1" dirty="0" err="1"/>
              <a:t>Insight:</a:t>
            </a:r>
            <a:r>
              <a:rPr lang="en-US" dirty="0" err="1"/>
              <a:t>COVID</a:t>
            </a:r>
            <a:r>
              <a:rPr lang="en-US" dirty="0"/>
              <a:t> research is globally distributed, with major contributions from developed and high-population countries.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D156A2-AE88-C718-5292-69B1E727E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7763" y="1213669"/>
            <a:ext cx="4005871" cy="384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1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1E074-2D90-F6F6-A377-F403D783C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Sponsor &amp; Organization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819CF-BF3D-F344-C4AF-C090FC804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/>
          </a:p>
          <a:p>
            <a:r>
              <a:rPr lang="en-US" b="1" dirty="0"/>
              <a:t>Top Sponsors Running COVID Trials</a:t>
            </a:r>
          </a:p>
          <a:p>
            <a:r>
              <a:rPr lang="en-US" dirty="0"/>
              <a:t>Sponsor data was explored to identify leading research institutions.</a:t>
            </a:r>
          </a:p>
          <a:p>
            <a:r>
              <a:rPr lang="en-US" b="1" dirty="0"/>
              <a:t>Insight:</a:t>
            </a:r>
            <a:endParaRPr lang="en-US" dirty="0"/>
          </a:p>
          <a:p>
            <a:r>
              <a:rPr lang="en-US" dirty="0"/>
              <a:t>Hospitals, universities, and pharma companies played key roles</a:t>
            </a:r>
          </a:p>
          <a:p>
            <a:r>
              <a:rPr lang="en-US" dirty="0"/>
              <a:t>Collaborative international sponsorship accelerated research outcomes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93A625-BC7E-59C8-E48E-11D3162B2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8258" y="365124"/>
            <a:ext cx="3750269" cy="2525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599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77CE0-7BD1-182C-23CA-582947324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Tools &amp; Methodology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97C6F-D872-A5AC-07EF-68F0FBA0F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en-IN" b="1" dirty="0"/>
          </a:p>
          <a:p>
            <a:r>
              <a:rPr lang="en-IN" b="1" dirty="0"/>
              <a:t>Technologies Used</a:t>
            </a:r>
          </a:p>
          <a:p>
            <a:r>
              <a:rPr lang="en-IN" b="1" dirty="0"/>
              <a:t>Python</a:t>
            </a:r>
            <a:endParaRPr lang="en-IN" dirty="0"/>
          </a:p>
          <a:p>
            <a:pPr lvl="1"/>
            <a:r>
              <a:rPr lang="en-IN" dirty="0"/>
              <a:t>Pandas for data cleaning and manipulation</a:t>
            </a:r>
          </a:p>
          <a:p>
            <a:pPr lvl="1"/>
            <a:r>
              <a:rPr lang="en-IN" dirty="0"/>
              <a:t>Matplotlib for visualization</a:t>
            </a:r>
          </a:p>
          <a:p>
            <a:pPr lvl="1"/>
            <a:r>
              <a:rPr lang="en-IN" dirty="0"/>
              <a:t>Exploratory Data Analysis techniques</a:t>
            </a:r>
          </a:p>
          <a:p>
            <a:r>
              <a:rPr lang="en-IN" b="1" dirty="0"/>
              <a:t>Methodology</a:t>
            </a:r>
          </a:p>
          <a:p>
            <a:r>
              <a:rPr lang="en-IN" dirty="0"/>
              <a:t>Data preprocessing</a:t>
            </a:r>
          </a:p>
          <a:p>
            <a:r>
              <a:rPr lang="en-IN" dirty="0"/>
              <a:t>Missing value handling</a:t>
            </a:r>
          </a:p>
          <a:p>
            <a:r>
              <a:rPr lang="en-IN" dirty="0"/>
              <a:t>Categorical distribution analysis</a:t>
            </a:r>
          </a:p>
          <a:p>
            <a:r>
              <a:rPr lang="en-IN" dirty="0"/>
              <a:t>Visualization-based insight generation</a:t>
            </a:r>
          </a:p>
          <a:p>
            <a:r>
              <a:rPr lang="en-IN" dirty="0"/>
              <a:t>Ref this link for code part of project :</a:t>
            </a:r>
            <a:r>
              <a:rPr lang="en-IN" dirty="0">
                <a:hlinkClick r:id="rId2"/>
              </a:rPr>
              <a:t>COVID CLINICAL TRIAL - </a:t>
            </a:r>
            <a:r>
              <a:rPr lang="en-IN">
                <a:hlinkClick r:id="rId2"/>
              </a:rPr>
              <a:t>Colab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380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50C24-E8F5-2CA5-F3A4-4BF7F6000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32295-4DAB-0A75-1593-D3D5EA456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Final Conclusion</a:t>
            </a:r>
          </a:p>
          <a:p>
            <a:r>
              <a:rPr lang="en-US" dirty="0"/>
              <a:t>COVID-19 clinical trials remain highly active worldwide</a:t>
            </a:r>
          </a:p>
          <a:p>
            <a:r>
              <a:rPr lang="en-US" dirty="0"/>
              <a:t>Most studies are still in recruiting or ongoing stages</a:t>
            </a:r>
          </a:p>
          <a:p>
            <a:r>
              <a:rPr lang="en-US" dirty="0"/>
              <a:t>Phase 2 and Phase 3 dominate research efforts</a:t>
            </a:r>
          </a:p>
          <a:p>
            <a:r>
              <a:rPr lang="en-US" dirty="0"/>
              <a:t>Global collaboration has been essential in pandemic response</a:t>
            </a:r>
          </a:p>
          <a:p>
            <a:r>
              <a:rPr lang="en-US" dirty="0"/>
              <a:t>Data-driven clinical trial analysis supports faster healthcare decision-making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5360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420</Words>
  <Application>Microsoft Office PowerPoint</Application>
  <PresentationFormat>Widescreen</PresentationFormat>
  <Paragraphs>83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COVID-19 Clinical Trials Dataset: Exploratory Data Analysis (EDA)</vt:lpstr>
      <vt:lpstr>Project Objective</vt:lpstr>
      <vt:lpstr>Dataset Overview</vt:lpstr>
      <vt:lpstr>Trials by Status (Chart)</vt:lpstr>
      <vt:lpstr>Trials by Phase</vt:lpstr>
      <vt:lpstr>Enrollment Distribution</vt:lpstr>
      <vt:lpstr>Top Countries Conducting Trials </vt:lpstr>
      <vt:lpstr>Sponsor &amp; Organization Analysis</vt:lpstr>
      <vt:lpstr>Tools &amp; Methodology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Gayatri Kulkarni</dc:creator>
  <cp:lastModifiedBy>Gayatri Kulkarni</cp:lastModifiedBy>
  <cp:revision>1</cp:revision>
  <dcterms:created xsi:type="dcterms:W3CDTF">2026-02-06T10:53:56Z</dcterms:created>
  <dcterms:modified xsi:type="dcterms:W3CDTF">2026-02-08T10:13:54Z</dcterms:modified>
</cp:coreProperties>
</file>